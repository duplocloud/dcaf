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89B4FA"/>
                </a:solidFill>
              </a:defRPr>
            </a:pPr>
            <a:r>
              <a:t>DCAF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>
                <a:solidFill>
                  <a:srgbClr val="CDD6F4"/>
                </a:solidFill>
              </a:defRPr>
            </a:pPr>
            <a:r>
              <a:t>Building AI Agents with Simplicity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9399B2"/>
                </a:solidFill>
              </a:defRPr>
            </a:pPr>
            <a:r>
              <a:t>DuploCloud Agent Framework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89B4FA"/>
                </a:solidFill>
              </a:defRPr>
            </a:pPr>
            <a:r>
              <a:t>What is DCAF Core?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CDD6F4"/>
                </a:solidFill>
              </a:defRPr>
            </a:pPr>
            <a:r>
              <a:t>A Simple API for Complex Agent 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>
                <a:solidFill>
                  <a:srgbClr val="CDD6F4"/>
                </a:solidFill>
              </a:defRPr>
            </a:pPr>
            <a:r>
              <a:t>🛠️  Call tools – Execute functions on behalf of users</a:t>
            </a:r>
          </a:p>
          <a:p>
            <a:pPr>
              <a:spcAft>
                <a:spcPts val="1200"/>
              </a:spcAft>
              <a:defRPr sz="2400">
                <a:solidFill>
                  <a:srgbClr val="CDD6F4"/>
                </a:solidFill>
              </a:defRPr>
            </a:pPr>
            <a:r>
              <a:t>✅  Request approval – Pause for human authorization</a:t>
            </a:r>
          </a:p>
          <a:p>
            <a:pPr>
              <a:spcAft>
                <a:spcPts val="1200"/>
              </a:spcAft>
              <a:defRPr sz="2400">
                <a:solidFill>
                  <a:srgbClr val="CDD6F4"/>
                </a:solidFill>
              </a:defRPr>
            </a:pPr>
            <a:r>
              <a:t>📡  Stream responses – Real-time token-by-token output</a:t>
            </a:r>
          </a:p>
          <a:p>
            <a:pPr>
              <a:spcAft>
                <a:spcPts val="1200"/>
              </a:spcAft>
              <a:defRPr sz="2400">
                <a:solidFill>
                  <a:srgbClr val="CDD6F4"/>
                </a:solidFill>
              </a:defRPr>
            </a:pPr>
            <a:r>
              <a:t>🌐  Serve via REST – One-line HTTP server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9399B2"/>
                </a:solidFill>
              </a:defRPr>
            </a:pPr>
            <a:r>
              <a:t>Philosophy: Hide complexity, expose simplicity.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89B4FA"/>
                </a:solidFill>
              </a:defRPr>
            </a:pPr>
            <a:r>
              <a:t>The Core API in 10 Lines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88720"/>
            <a:ext cx="11430000" cy="4572000"/>
          </a:xfrm>
          <a:prstGeom prst="roundRect">
            <a:avLst/>
          </a:prstGeom>
          <a:solidFill>
            <a:srgbClr val="2D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from dcaf.core import Agent, serve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from dcaf.tools import tool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@tool(description="List Kubernetes pods")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def list_pods(namespace: str = "default") -&gt; str: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    return kubectl(f"get pods -n {namespace}")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agent = Agent(tools=[list_pods], system="You are a K8s assistant.")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serve(agent)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A6E3A1"/>
                </a:solidFill>
              </a:defRPr>
            </a:pPr>
            <a:r>
              <a:t>That's it. Your agent is now running at http://localhost:8000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89B4FA"/>
                </a:solidFill>
              </a:defRPr>
            </a:pPr>
            <a:r>
              <a:t>Tool Definitions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88720"/>
            <a:ext cx="11430000" cy="4572000"/>
          </a:xfrm>
          <a:prstGeom prst="roundRect">
            <a:avLst/>
          </a:prstGeom>
          <a:solidFill>
            <a:srgbClr val="2D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# Auto-generated schemas from type hints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@tool(description="Delete a Kubernetes pod")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def delete_pod(name: str, namespace: str = "default") -&gt; str: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    return kubectl(f"delete pod {name} -n {namespace}")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# Adding approval requirements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@tool(requires_approval=True, description="Delete a Kubernetes pod")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def delete_pod(name: str, namespace: str = "default") -&gt; str: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    return kubectl(f"delete pod {name} -n {namespace}")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A6E3A1"/>
                </a:solidFill>
              </a:defRPr>
            </a:pPr>
            <a:r>
              <a:t>Schemas inferred from function signatures automatically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89B4FA"/>
                </a:solidFill>
              </a:defRPr>
            </a:pPr>
            <a:r>
              <a:t>The Agent Class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88720"/>
            <a:ext cx="11430000" cy="4572000"/>
          </a:xfrm>
          <a:prstGeom prst="roundRect">
            <a:avLst/>
          </a:prstGeom>
          <a:solidFill>
            <a:srgbClr val="2D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from dcaf.core import Agent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agent = Agent(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    tools=[list_pods, delete_pod, restart_deployment],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    system="You are a Kubernetes assistant.",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)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# Running the agent programmatically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response = agent.run([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    {"role": "user", "content": "What pods are running?"}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])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print(response.text)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A6E3A1"/>
                </a:solidFill>
              </a:defRPr>
            </a:pPr>
            <a:r>
              <a:t>Minimal configuration, maximum capability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89B4FA"/>
                </a:solidFill>
              </a:defRPr>
            </a:pPr>
            <a:r>
              <a:t>The serve() Function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88720"/>
            <a:ext cx="11430000" cy="4572000"/>
          </a:xfrm>
          <a:prstGeom prst="roundRect">
            <a:avLst/>
          </a:prstGeom>
          <a:solidFill>
            <a:srgbClr val="2D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from dcaf.core import serve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# One-line REST API server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serve(agent)  # Running at http://0.0.0.0:8000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# With configuration options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serve(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    agent,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    port=8000,              # Port to listen on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    host="0.0.0.0",         # Host to bind to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    reload=True,            # Auto-reload for development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    log_level="info",       # Logging verbosity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A6E3A1"/>
                </a:solidFill>
              </a:defRPr>
            </a:pPr>
            <a:r>
              <a:t>One function to expose your agent via HTTP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89B4FA"/>
                </a:solidFill>
              </a:defRPr>
            </a:pPr>
            <a:r>
              <a:t>Production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CDD6F4"/>
                </a:solidFill>
              </a:defRPr>
            </a:pPr>
            <a:r>
              <a:t>Built-in Support for Production Deployments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>
                <a:solidFill>
                  <a:srgbClr val="CDD6F4"/>
                </a:solidFill>
              </a:defRPr>
            </a:pPr>
            <a:r>
              <a:t>workers=4           → Multiple worker processes</a:t>
            </a:r>
          </a:p>
          <a:p>
            <a:pPr>
              <a:spcAft>
                <a:spcPts val="1200"/>
              </a:spcAft>
              <a:defRPr sz="2400">
                <a:solidFill>
                  <a:srgbClr val="CDD6F4"/>
                </a:solidFill>
              </a:defRPr>
            </a:pPr>
            <a:r>
              <a:t>timeout_keep_alive=30  → Match load balancer timeout</a:t>
            </a:r>
          </a:p>
          <a:p>
            <a:pPr>
              <a:spcAft>
                <a:spcPts val="1200"/>
              </a:spcAft>
              <a:defRPr sz="2400">
                <a:solidFill>
                  <a:srgbClr val="CDD6F4"/>
                </a:solidFill>
              </a:defRPr>
            </a:pPr>
            <a:r>
              <a:t>log_level='warning'    → Reduce noise in 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9399B2"/>
                </a:solidFill>
              </a:defRPr>
            </a:pPr>
            <a:r>
              <a:t>Best Practice: workers = (2 × cpu_cores) + 1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89B4FA"/>
                </a:solidFill>
              </a:defRPr>
            </a:pPr>
            <a:r>
              <a:t>REST API Endpoints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7729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800">
                          <a:solidFill>
                            <a:srgbClr val="1E1E2E"/>
                          </a:solidFill>
                        </a:defRPr>
                      </a:pPr>
                      <a:r>
                        <a:t>Endpoint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800">
                          <a:solidFill>
                            <a:srgbClr val="1E1E2E"/>
                          </a:solidFill>
                        </a:defRPr>
                      </a:pPr>
                      <a:r>
                        <a:t>Method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800">
                          <a:solidFill>
                            <a:srgbClr val="1E1E2E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CDD6F4"/>
                          </a:solidFill>
                        </a:defRPr>
                      </a:pPr>
                      <a:r>
                        <a:t>/health</a:t>
                      </a:r>
                    </a:p>
                  </a:txBody>
                  <a:tcPr>
                    <a:solidFill>
                      <a:srgbClr val="2D2D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CDD6F4"/>
                          </a:solidFill>
                        </a:defRPr>
                      </a:pPr>
                      <a:r>
                        <a:t>GET</a:t>
                      </a:r>
                    </a:p>
                  </a:txBody>
                  <a:tcPr>
                    <a:solidFill>
                      <a:srgbClr val="2D2D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CDD6F4"/>
                          </a:solidFill>
                        </a:defRPr>
                      </a:pPr>
                      <a:r>
                        <a:t>Health check (always responds immediately)</a:t>
                      </a:r>
                    </a:p>
                  </a:txBody>
                  <a:tcPr>
                    <a:solidFill>
                      <a:srgbClr val="2D2D4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CDD6F4"/>
                          </a:solidFill>
                        </a:defRPr>
                      </a:pPr>
                      <a:r>
                        <a:t>/api/chat</a:t>
                      </a:r>
                    </a:p>
                  </a:txBody>
                  <a:tcPr>
                    <a:solidFill>
                      <a:srgbClr val="2D2D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CDD6F4"/>
                          </a:solidFill>
                        </a:defRPr>
                      </a:pPr>
                      <a:r>
                        <a:t>POST</a:t>
                      </a:r>
                    </a:p>
                  </a:txBody>
                  <a:tcPr>
                    <a:solidFill>
                      <a:srgbClr val="2D2D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CDD6F4"/>
                          </a:solidFill>
                        </a:defRPr>
                      </a:pPr>
                      <a:r>
                        <a:t>Synchronous chat</a:t>
                      </a:r>
                    </a:p>
                  </a:txBody>
                  <a:tcPr>
                    <a:solidFill>
                      <a:srgbClr val="2D2D4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CDD6F4"/>
                          </a:solidFill>
                        </a:defRPr>
                      </a:pPr>
                      <a:r>
                        <a:t>/api/chat-stream</a:t>
                      </a:r>
                    </a:p>
                  </a:txBody>
                  <a:tcPr>
                    <a:solidFill>
                      <a:srgbClr val="2D2D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CDD6F4"/>
                          </a:solidFill>
                        </a:defRPr>
                      </a:pPr>
                      <a:r>
                        <a:t>POST</a:t>
                      </a:r>
                    </a:p>
                  </a:txBody>
                  <a:tcPr>
                    <a:solidFill>
                      <a:srgbClr val="2D2D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CDD6F4"/>
                          </a:solidFill>
                        </a:defRPr>
                      </a:pPr>
                      <a:r>
                        <a:t>Streaming chat (NDJSON)</a:t>
                      </a:r>
                    </a:p>
                  </a:txBody>
                  <a:tcPr>
                    <a:solidFill>
                      <a:srgbClr val="2D2D4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89B4FA"/>
                </a:solidFill>
              </a:defRPr>
            </a:pPr>
            <a:r>
              <a:t>Human-in-the-Loop Approval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CDD6F4"/>
                </a:solidFill>
              </a:defRPr>
            </a:pPr>
            <a: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>
                <a:solidFill>
                  <a:srgbClr val="CDD6F4"/>
                </a:solidFill>
              </a:defRPr>
            </a:pPr>
            <a:r>
              <a:t>1. User asks agent to perform an action</a:t>
            </a:r>
          </a:p>
          <a:p>
            <a:pPr>
              <a:spcAft>
                <a:spcPts val="1200"/>
              </a:spcAft>
              <a:defRPr sz="2400">
                <a:solidFill>
                  <a:srgbClr val="CDD6F4"/>
                </a:solidFill>
              </a:defRPr>
            </a:pPr>
            <a:r>
              <a:t>2. Agent identifies a tool that requires approval</a:t>
            </a:r>
          </a:p>
          <a:p>
            <a:pPr>
              <a:spcAft>
                <a:spcPts val="1200"/>
              </a:spcAft>
              <a:defRPr sz="2400">
                <a:solidFill>
                  <a:srgbClr val="CDD6F4"/>
                </a:solidFill>
              </a:defRPr>
            </a:pPr>
            <a:r>
              <a:t>3. Agent pauses and returns pending tool calls</a:t>
            </a:r>
          </a:p>
          <a:p>
            <a:pPr>
              <a:spcAft>
                <a:spcPts val="1200"/>
              </a:spcAft>
              <a:defRPr sz="2400">
                <a:solidFill>
                  <a:srgbClr val="CDD6F4"/>
                </a:solidFill>
              </a:defRPr>
            </a:pPr>
            <a:r>
              <a:t>4. User reviews and approves (or rejects)</a:t>
            </a:r>
          </a:p>
          <a:p>
            <a:pPr>
              <a:spcAft>
                <a:spcPts val="1200"/>
              </a:spcAft>
              <a:defRPr sz="2400">
                <a:solidFill>
                  <a:srgbClr val="CDD6F4"/>
                </a:solidFill>
              </a:defRPr>
            </a:pPr>
            <a:r>
              <a:t>5. Agent executes the approved tool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9399B2"/>
                </a:solidFill>
              </a:defRPr>
            </a:pPr>
            <a:r>
              <a:t>Built-in safety for dangerous operations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89B4FA"/>
                </a:solidFill>
              </a:defRPr>
            </a:pPr>
            <a:r>
              <a:t>Custom Agent Logic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88720"/>
            <a:ext cx="11430000" cy="4572000"/>
          </a:xfrm>
          <a:prstGeom prst="roundRect">
            <a:avLst/>
          </a:prstGeom>
          <a:solidFill>
            <a:srgbClr val="2D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def my_agent(messages: list, context: dict) -&gt; AgentResult: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    tenant = context.get("tenant_name")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    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    # Classify intent first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    classifier = Agent(system="Classify as: query or action")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    intent = classifier.run(messages)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    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    if "action" in intent.text.lower():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        executor = Agent(tools=[list_pods, delete_pod])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        result = executor.run(messages)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        return AgentResult(text=result.text)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    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    return AgentResult(text=intent.text)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serve(my_agent)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A6E3A1"/>
                </a:solidFill>
              </a:defRPr>
            </a:pPr>
            <a:r>
              <a:t>Any structure you need: multiple LLM calls, branching, orchestration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89B4FA"/>
                </a:solidFill>
              </a:defRPr>
            </a:pPr>
            <a:r>
              <a:t>Platform Context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88720"/>
            <a:ext cx="11430000" cy="4572000"/>
          </a:xfrm>
          <a:prstGeom prst="roundRect">
            <a:avLst/>
          </a:prstGeom>
          <a:solidFill>
            <a:srgbClr val="2D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def my_agent(messages: list, context: dict) -&gt; AgentResult: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    # Context is extracted automatically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    tenant = context.get("tenant_name")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    namespace = context.get("k8s_namespace")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    user_id = context.get("user_id")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    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    agent = Agent(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        tools=[...],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        system=f"Assisting tenant {tenant} in namespace {namespace}"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    )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    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A6E3A1"/>
                </a:solidFill>
              </a:defRPr>
            </a:pPr>
            <a:r>
              <a:t>Available: tenant_name, k8s_namespace, user_id, duplo_token, and more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89B4FA"/>
                </a:solidFill>
              </a:defRPr>
            </a:pPr>
            <a:r>
              <a:t>Streaming Responses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CDD6F4"/>
                </a:solidFill>
              </a:defRPr>
            </a:pPr>
            <a:r>
              <a:t>Real-Time Token-by-Token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>
                <a:solidFill>
                  <a:srgbClr val="CDD6F4"/>
                </a:solidFill>
              </a:defRPr>
            </a:pPr>
            <a:r>
              <a:t>text_delta    → Incremental text from the LLM</a:t>
            </a:r>
          </a:p>
          <a:p>
            <a:pPr>
              <a:spcAft>
                <a:spcPts val="1200"/>
              </a:spcAft>
              <a:defRPr sz="2400">
                <a:solidFill>
                  <a:srgbClr val="CDD6F4"/>
                </a:solidFill>
              </a:defRPr>
            </a:pPr>
            <a:r>
              <a:t>tool_calls    → Tools requiring approval</a:t>
            </a:r>
          </a:p>
          <a:p>
            <a:pPr>
              <a:spcAft>
                <a:spcPts val="1200"/>
              </a:spcAft>
              <a:defRPr sz="2400">
                <a:solidFill>
                  <a:srgbClr val="CDD6F4"/>
                </a:solidFill>
              </a:defRPr>
            </a:pPr>
            <a:r>
              <a:t>executed_tool_calls → Results from executed tools</a:t>
            </a:r>
          </a:p>
          <a:p>
            <a:pPr>
              <a:spcAft>
                <a:spcPts val="1200"/>
              </a:spcAft>
              <a:defRPr sz="2400">
                <a:solidFill>
                  <a:srgbClr val="CDD6F4"/>
                </a:solidFill>
              </a:defRPr>
            </a:pPr>
            <a:r>
              <a:t>done          → Stream completed</a:t>
            </a:r>
          </a:p>
          <a:p>
            <a:pPr>
              <a:spcAft>
                <a:spcPts val="1200"/>
              </a:spcAft>
              <a:defRPr sz="2400">
                <a:solidFill>
                  <a:srgbClr val="CDD6F4"/>
                </a:solidFill>
              </a:defRPr>
            </a:pPr>
            <a:r>
              <a:t>error         → An error occurred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9399B2"/>
                </a:solidFill>
              </a:defRPr>
            </a:pPr>
            <a:r>
              <a:t>NDJSON format for easy parsing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89B4FA"/>
                </a:solidFill>
              </a:defRPr>
            </a:pPr>
            <a:r>
              <a:t>Adding Custom Endpoints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88720"/>
            <a:ext cx="11430000" cy="4572000"/>
          </a:xfrm>
          <a:prstGeom prst="roundRect">
            <a:avLst/>
          </a:prstGeom>
          <a:solidFill>
            <a:srgbClr val="2D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from fastapi import APIRouter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custom_router = APIRouter()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@custom_router.get("/api/custom/schema")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async def get_schema():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    return {"tools": ["list_pods", "delete_pod"]}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@custom_router.get("/api/custom/health")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async def detailed_health():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    return {"status": "healthy", "tools_loaded": 2}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# Include custom routes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serve(agent, additional_routers=[custom_router])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A6E3A1"/>
                </a:solidFill>
              </a:defRPr>
            </a:pPr>
            <a:r>
              <a:t>Extend your agent server with any FastAPI routes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89B4FA"/>
                </a:solidFill>
              </a:defRPr>
            </a:pPr>
            <a:r>
              <a:t>Docker Deployment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88720"/>
            <a:ext cx="11430000" cy="4572000"/>
          </a:xfrm>
          <a:prstGeom prst="roundRect">
            <a:avLst/>
          </a:prstGeom>
          <a:solidFill>
            <a:srgbClr val="2D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# main.py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import os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from dcaf.core import Agent, serve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agent = Agent(tools=[...], system="You are a K8s assistant.")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if __name__ == "__main__":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    serve(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        agent,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        host="0.0.0.0",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        port=int(os.getenv("PORT", 8000)),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        workers=int(os.getenv("WORKERS", 4)),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        timeout_keep_alive=int(os.getenv("KEEP_ALIVE", 30)),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    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A6E3A1"/>
                </a:solidFill>
              </a:defRPr>
            </a:pPr>
            <a:r>
              <a:t>docker run -e WORKERS=8 -e KEEP_ALIVE=60 my-agent:latest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89B4FA"/>
                </a:solidFill>
              </a:defRPr>
            </a:pPr>
            <a:r>
              <a:t>Complete Example: Kubernetes Agent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88720"/>
            <a:ext cx="11430000" cy="4572000"/>
          </a:xfrm>
          <a:prstGeom prst="roundRect">
            <a:avLst/>
          </a:prstGeom>
          <a:solidFill>
            <a:srgbClr val="2D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@tool(description="List Kubernetes pods")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def list_pods(namespace: str = "default") -&gt; str: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    return kubectl(f"get pods -n {namespace}")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@tool(requires_approval=True, description="Delete a pod")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def delete_pod(name: str, namespace: str = "default") -&gt; str: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    return kubectl(f"delete pod {name} -n {namespace}")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@tool(requires_approval=True, description="Restart a deployment")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def restart_deployment(name: str, namespace: str = "default") -&gt; str: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    return kubectl(f"rollout restart deployment {name} -n {namespace}")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agent = Agent(tools=[list_pods, delete_pod, restart_deployment])</a:t>
            </a:r>
          </a:p>
          <a:p>
            <a:pPr>
              <a:spcAft>
                <a:spcPts val="200"/>
              </a:spcAft>
              <a:defRPr sz="1400">
                <a:solidFill>
                  <a:srgbClr val="CDD6F4"/>
                </a:solidFill>
                <a:latin typeface="Consolas"/>
              </a:defRPr>
            </a:pPr>
            <a:r>
              <a:t>serve(agent, port=8000, workers=4)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A6E3A1"/>
                </a:solidFill>
              </a:defRPr>
            </a:pPr>
            <a:r>
              <a:t>Production-ready in ~15 lines of code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89B4FA"/>
                </a:solidFill>
              </a:defRPr>
            </a:pPr>
            <a:r>
              <a:t>Architecture Overview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371600"/>
            <a:ext cx="9418320" cy="1097280"/>
          </a:xfrm>
          <a:prstGeom prst="roundRect">
            <a:avLst/>
          </a:prstGeom>
          <a:solidFill>
            <a:srgbClr val="2D2D41"/>
          </a:solidFill>
          <a:ln w="25400">
            <a:solidFill>
              <a:srgbClr val="89B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1508760"/>
            <a:ext cx="9052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89B4FA"/>
                </a:solidFill>
              </a:defRPr>
            </a:pPr>
            <a:r>
              <a:t>Your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874519"/>
            <a:ext cx="9052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CDD6F4"/>
                </a:solidFill>
              </a:defRPr>
            </a:pPr>
            <a:r>
              <a:t>agent = Agent(tools=[...])  →  serve(agent)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56032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>
                <a:solidFill>
                  <a:srgbClr val="9399B2"/>
                </a:solidFill>
              </a:defRPr>
            </a:pPr>
            <a:r>
              <a:t>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3017520"/>
            <a:ext cx="9418320" cy="1371600"/>
          </a:xfrm>
          <a:prstGeom prst="roundRect">
            <a:avLst/>
          </a:prstGeom>
          <a:solidFill>
            <a:srgbClr val="2D2D41"/>
          </a:solidFill>
          <a:ln w="25400">
            <a:solidFill>
              <a:srgbClr val="A6E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54480" y="3154679"/>
            <a:ext cx="9052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A6E3A1"/>
                </a:solidFill>
              </a:defRPr>
            </a:pPr>
            <a:r>
              <a:t>DCAF 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520439"/>
            <a:ext cx="9052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CDD6F4"/>
                </a:solidFill>
              </a:defRPr>
            </a:pPr>
            <a:r>
              <a:t>HTTP → Messages → Agent Logic → Approvals → Response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448056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>
                <a:solidFill>
                  <a:srgbClr val="9399B2"/>
                </a:solidFill>
              </a:defRPr>
            </a:pPr>
            <a:r>
              <a:t>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4937760"/>
            <a:ext cx="9418320" cy="914400"/>
          </a:xfrm>
          <a:prstGeom prst="roundRect">
            <a:avLst/>
          </a:prstGeom>
          <a:solidFill>
            <a:srgbClr val="2D2D41"/>
          </a:solidFill>
          <a:ln w="25400">
            <a:solidFill>
              <a:srgbClr val="CDD6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54480" y="5074920"/>
            <a:ext cx="9052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CDD6F4"/>
                </a:solidFill>
              </a:defRPr>
            </a:pPr>
            <a:r>
              <a:t>LLM (AWS Bedrock)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5440680"/>
            <a:ext cx="9052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CDD6F4"/>
                </a:solidFill>
              </a:defRPr>
            </a:pPr>
            <a:r>
              <a:t>Claude 3.5 Sonnet / Claude 4 / etc.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89B4FA"/>
                </a:solidFill>
              </a:defRPr>
            </a:pPr>
            <a:r>
              <a:t>Key Concepts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77295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800">
                          <a:solidFill>
                            <a:srgbClr val="1E1E2E"/>
                          </a:solidFill>
                        </a:defRPr>
                      </a:pPr>
                      <a:r>
                        <a:t>Concept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800">
                          <a:solidFill>
                            <a:srgbClr val="1E1E2E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CDD6F4"/>
                          </a:solidFill>
                        </a:defRPr>
                      </a:pPr>
                      <a:r>
                        <a:t>Agent</a:t>
                      </a:r>
                    </a:p>
                  </a:txBody>
                  <a:tcPr>
                    <a:solidFill>
                      <a:srgbClr val="2D2D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CDD6F4"/>
                          </a:solidFill>
                        </a:defRPr>
                      </a:pPr>
                      <a:r>
                        <a:t>Your LLM-powered assistant with tools</a:t>
                      </a:r>
                    </a:p>
                  </a:txBody>
                  <a:tcPr>
                    <a:solidFill>
                      <a:srgbClr val="2D2D4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CDD6F4"/>
                          </a:solidFill>
                        </a:defRPr>
                      </a:pPr>
                      <a:r>
                        <a:t>Tool</a:t>
                      </a:r>
                    </a:p>
                  </a:txBody>
                  <a:tcPr>
                    <a:solidFill>
                      <a:srgbClr val="2D2D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CDD6F4"/>
                          </a:solidFill>
                        </a:defRPr>
                      </a:pPr>
                      <a:r>
                        <a:t>A function the agent can call</a:t>
                      </a:r>
                    </a:p>
                  </a:txBody>
                  <a:tcPr>
                    <a:solidFill>
                      <a:srgbClr val="2D2D4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CDD6F4"/>
                          </a:solidFill>
                        </a:defRPr>
                      </a:pPr>
                      <a:r>
                        <a:t>Approval</a:t>
                      </a:r>
                    </a:p>
                  </a:txBody>
                  <a:tcPr>
                    <a:solidFill>
                      <a:srgbClr val="2D2D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CDD6F4"/>
                          </a:solidFill>
                        </a:defRPr>
                      </a:pPr>
                      <a:r>
                        <a:t>Human authorization for sensitive tools</a:t>
                      </a:r>
                    </a:p>
                  </a:txBody>
                  <a:tcPr>
                    <a:solidFill>
                      <a:srgbClr val="2D2D4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CDD6F4"/>
                          </a:solidFill>
                        </a:defRPr>
                      </a:pPr>
                      <a:r>
                        <a:t>serve()</a:t>
                      </a:r>
                    </a:p>
                  </a:txBody>
                  <a:tcPr>
                    <a:solidFill>
                      <a:srgbClr val="2D2D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CDD6F4"/>
                          </a:solidFill>
                        </a:defRPr>
                      </a:pPr>
                      <a:r>
                        <a:t>One-line REST API server</a:t>
                      </a:r>
                    </a:p>
                  </a:txBody>
                  <a:tcPr>
                    <a:solidFill>
                      <a:srgbClr val="2D2D4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CDD6F4"/>
                          </a:solidFill>
                        </a:defRPr>
                      </a:pPr>
                      <a:r>
                        <a:t>create_app()</a:t>
                      </a:r>
                    </a:p>
                  </a:txBody>
                  <a:tcPr>
                    <a:solidFill>
                      <a:srgbClr val="2D2D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CDD6F4"/>
                          </a:solidFill>
                        </a:defRPr>
                      </a:pPr>
                      <a:r>
                        <a:t>Programmatic FastAPI control</a:t>
                      </a:r>
                    </a:p>
                  </a:txBody>
                  <a:tcPr>
                    <a:solidFill>
                      <a:srgbClr val="2D2D4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CDD6F4"/>
                          </a:solidFill>
                        </a:defRPr>
                      </a:pPr>
                      <a:r>
                        <a:t>Platform Context</a:t>
                      </a:r>
                    </a:p>
                  </a:txBody>
                  <a:tcPr>
                    <a:solidFill>
                      <a:srgbClr val="2D2D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CDD6F4"/>
                          </a:solidFill>
                        </a:defRPr>
                      </a:pPr>
                      <a:r>
                        <a:t>Runtime environment (tenant, namespace, etc.)</a:t>
                      </a:r>
                    </a:p>
                  </a:txBody>
                  <a:tcPr>
                    <a:solidFill>
                      <a:srgbClr val="2D2D4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CDD6F4"/>
                          </a:solidFill>
                        </a:defRPr>
                      </a:pPr>
                      <a:r>
                        <a:t>AgentResult</a:t>
                      </a:r>
                    </a:p>
                  </a:txBody>
                  <a:tcPr>
                    <a:solidFill>
                      <a:srgbClr val="2D2D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CDD6F4"/>
                          </a:solidFill>
                        </a:defRPr>
                      </a:pPr>
                      <a:r>
                        <a:t>Return type for custom agent functions</a:t>
                      </a:r>
                    </a:p>
                  </a:txBody>
                  <a:tcPr>
                    <a:solidFill>
                      <a:srgbClr val="2D2D4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89B4FA"/>
                </a:solidFill>
              </a:defRPr>
            </a:pPr>
            <a: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CDD6F4"/>
                </a:solidFill>
              </a:defRPr>
            </a:pPr>
            <a:r>
              <a:t>Installation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>
                <a:solidFill>
                  <a:srgbClr val="CDD6F4"/>
                </a:solidFill>
              </a:defRPr>
            </a:pPr>
            <a:r>
              <a:t>pip install git+https://github.com/duplocloud/dcaf.git</a:t>
            </a:r>
          </a:p>
          <a:p>
            <a:pPr>
              <a:spcAft>
                <a:spcPts val="1200"/>
              </a:spcAft>
              <a:defRPr sz="2400">
                <a:solidFill>
                  <a:srgbClr val="CDD6F4"/>
                </a:solidFill>
              </a:defRPr>
            </a:pPr>
          </a:p>
          <a:p>
            <a:pPr>
              <a:spcAft>
                <a:spcPts val="1200"/>
              </a:spcAft>
              <a:defRPr sz="2400">
                <a:solidFill>
                  <a:srgbClr val="CDD6F4"/>
                </a:solidFill>
              </a:defRPr>
            </a:pPr>
            <a:r>
              <a:t>Documentation:</a:t>
            </a:r>
          </a:p>
          <a:p>
            <a:pPr>
              <a:spcAft>
                <a:spcPts val="1200"/>
              </a:spcAft>
              <a:defRPr sz="2400">
                <a:solidFill>
                  <a:srgbClr val="CDD6F4"/>
                </a:solidFill>
              </a:defRPr>
            </a:pPr>
            <a:r>
              <a:t>  • docs/core/index.md – Core Overview</a:t>
            </a:r>
          </a:p>
          <a:p>
            <a:pPr>
              <a:spcAft>
                <a:spcPts val="1200"/>
              </a:spcAft>
              <a:defRPr sz="2400">
                <a:solidFill>
                  <a:srgbClr val="CDD6F4"/>
                </a:solidFill>
              </a:defRPr>
            </a:pPr>
            <a:r>
              <a:t>  • docs/core/server.md – Server Guide</a:t>
            </a:r>
          </a:p>
          <a:p>
            <a:pPr>
              <a:spcAft>
                <a:spcPts val="1200"/>
              </a:spcAft>
              <a:defRPr sz="2400">
                <a:solidFill>
                  <a:srgbClr val="CDD6F4"/>
                </a:solidFill>
              </a:defRPr>
            </a:pPr>
            <a:r>
              <a:t>  • docs/guides/custom-agents.md – Custom Agents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89B4FA"/>
                </a:solidFill>
              </a:defRPr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2004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CDD6F4"/>
                </a:solidFill>
              </a:defRPr>
            </a:pPr>
            <a:r>
              <a:t>✓  Simple API – Agent + serve() is all you need</a:t>
            </a:r>
          </a:p>
          <a:p>
            <a:pPr>
              <a:spcAft>
                <a:spcPts val="800"/>
              </a:spcAft>
              <a:defRPr sz="2200">
                <a:solidFill>
                  <a:srgbClr val="CDD6F4"/>
                </a:solidFill>
              </a:defRPr>
            </a:pPr>
            <a:r>
              <a:t>✓  Tool calling – Decorator-based with auto-generated schemas</a:t>
            </a:r>
          </a:p>
          <a:p>
            <a:pPr>
              <a:spcAft>
                <a:spcPts val="800"/>
              </a:spcAft>
              <a:defRPr sz="2200">
                <a:solidFill>
                  <a:srgbClr val="CDD6F4"/>
                </a:solidFill>
              </a:defRPr>
            </a:pPr>
            <a:r>
              <a:t>✓  Human-in-the-loop – Built-in approval for sensitive operations</a:t>
            </a:r>
          </a:p>
          <a:p>
            <a:pPr>
              <a:spcAft>
                <a:spcPts val="800"/>
              </a:spcAft>
              <a:defRPr sz="2200">
                <a:solidFill>
                  <a:srgbClr val="CDD6F4"/>
                </a:solidFill>
              </a:defRPr>
            </a:pPr>
            <a:r>
              <a:t>✓  Production-ready – Workers, keep-alive, health checks included</a:t>
            </a:r>
          </a:p>
          <a:p>
            <a:pPr>
              <a:spcAft>
                <a:spcPts val="800"/>
              </a:spcAft>
              <a:defRPr sz="2200">
                <a:solidFill>
                  <a:srgbClr val="CDD6F4"/>
                </a:solidFill>
              </a:defRPr>
            </a:pPr>
            <a:r>
              <a:t>✓  Flexible – Use classes or functions, your choice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